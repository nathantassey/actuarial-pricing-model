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iLCbIqtX6B/kg8wh1dt7nUgPcJ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E56B0C-A206-4450-B3AA-777A59D3C4B0}">
  <a:tblStyle styleId="{1BE56B0C-A206-4450-B3AA-777A59D3C4B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ter">
  <p:cSld name="Po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1999" y="762000"/>
            <a:ext cx="34165183" cy="2182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mbria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1999" y="2944368"/>
            <a:ext cx="34165183" cy="1246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1143000" y="3211469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1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11018520" y="32114698"/>
            <a:ext cx="2185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5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32872680" y="3211469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"/>
          <p:cNvSpPr/>
          <p:nvPr>
            <p:ph idx="2" type="body"/>
          </p:nvPr>
        </p:nvSpPr>
        <p:spPr>
          <a:xfrm>
            <a:off x="685800" y="5606311"/>
            <a:ext cx="137160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685800" y="7021067"/>
            <a:ext cx="13670280" cy="703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40278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6pPr>
            <a:lvl7pPr indent="-40278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7pPr>
            <a:lvl8pPr indent="-40278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8pPr>
            <a:lvl9pPr indent="-40278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9pPr>
          </a:lstStyle>
          <a:p/>
        </p:txBody>
      </p:sp>
      <p:sp>
        <p:nvSpPr>
          <p:cNvPr id="24" name="Google Shape;24;p3"/>
          <p:cNvSpPr/>
          <p:nvPr>
            <p:ph idx="4" type="body"/>
          </p:nvPr>
        </p:nvSpPr>
        <p:spPr>
          <a:xfrm>
            <a:off x="685800" y="14541039"/>
            <a:ext cx="137160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5" type="body"/>
          </p:nvPr>
        </p:nvSpPr>
        <p:spPr>
          <a:xfrm>
            <a:off x="685800" y="16029364"/>
            <a:ext cx="13670280" cy="9316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40278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6pPr>
            <a:lvl7pPr indent="-40278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7pPr>
            <a:lvl8pPr indent="-40278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8pPr>
            <a:lvl9pPr indent="-40278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9pPr>
          </a:lstStyle>
          <a:p/>
        </p:txBody>
      </p:sp>
      <p:sp>
        <p:nvSpPr>
          <p:cNvPr id="26" name="Google Shape;26;p3"/>
          <p:cNvSpPr/>
          <p:nvPr>
            <p:ph idx="6" type="body"/>
          </p:nvPr>
        </p:nvSpPr>
        <p:spPr>
          <a:xfrm>
            <a:off x="662940" y="25689811"/>
            <a:ext cx="137160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7" type="body"/>
          </p:nvPr>
        </p:nvSpPr>
        <p:spPr>
          <a:xfrm>
            <a:off x="583558" y="27146300"/>
            <a:ext cx="1379538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2286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None/>
              <a:defRPr sz="2743"/>
            </a:lvl6pPr>
            <a:lvl7pPr indent="-40278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7pPr>
            <a:lvl8pPr indent="-40278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8pPr>
            <a:lvl9pPr indent="-40278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9pPr>
          </a:lstStyle>
          <a:p/>
        </p:txBody>
      </p:sp>
      <p:sp>
        <p:nvSpPr>
          <p:cNvPr id="28" name="Google Shape;28;p3"/>
          <p:cNvSpPr/>
          <p:nvPr>
            <p:ph idx="8" type="body"/>
          </p:nvPr>
        </p:nvSpPr>
        <p:spPr>
          <a:xfrm>
            <a:off x="15087600" y="5606311"/>
            <a:ext cx="137160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9" type="body"/>
          </p:nvPr>
        </p:nvSpPr>
        <p:spPr>
          <a:xfrm>
            <a:off x="15087600" y="7003785"/>
            <a:ext cx="13624560" cy="4830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2286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None/>
              <a:defRPr sz="2743"/>
            </a:lvl6pPr>
            <a:lvl7pPr indent="-40278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7pPr>
            <a:lvl8pPr indent="-40278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None/>
              <a:defRPr sz="2743"/>
            </a:lvl9pPr>
          </a:lstStyle>
          <a:p/>
        </p:txBody>
      </p:sp>
      <p:sp>
        <p:nvSpPr>
          <p:cNvPr id="30" name="Google Shape;30;p3"/>
          <p:cNvSpPr txBox="1"/>
          <p:nvPr>
            <p:ph idx="13" type="body"/>
          </p:nvPr>
        </p:nvSpPr>
        <p:spPr>
          <a:xfrm>
            <a:off x="15087600" y="12388291"/>
            <a:ext cx="13624560" cy="7139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4826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6pPr>
            <a:lvl7pPr indent="-4826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7pPr>
            <a:lvl8pPr indent="-482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8pPr>
            <a:lvl9pPr indent="-4826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9pPr>
          </a:lstStyle>
          <a:p/>
        </p:txBody>
      </p:sp>
      <p:sp>
        <p:nvSpPr>
          <p:cNvPr id="31" name="Google Shape;31;p3"/>
          <p:cNvSpPr txBox="1"/>
          <p:nvPr>
            <p:ph idx="14" type="body"/>
          </p:nvPr>
        </p:nvSpPr>
        <p:spPr>
          <a:xfrm>
            <a:off x="15087600" y="22934471"/>
            <a:ext cx="13624560" cy="18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75">
            <a:norm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32" name="Google Shape;32;p3"/>
          <p:cNvSpPr/>
          <p:nvPr>
            <p:ph idx="15" type="body"/>
          </p:nvPr>
        </p:nvSpPr>
        <p:spPr>
          <a:xfrm>
            <a:off x="15041880" y="25689811"/>
            <a:ext cx="137160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6" type="body"/>
          </p:nvPr>
        </p:nvSpPr>
        <p:spPr>
          <a:xfrm>
            <a:off x="15148560" y="27057096"/>
            <a:ext cx="13563600" cy="4661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40278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6pPr>
            <a:lvl7pPr indent="-40278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7pPr>
            <a:lvl8pPr indent="-40278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8pPr>
            <a:lvl9pPr indent="-40278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9pPr>
          </a:lstStyle>
          <a:p/>
        </p:txBody>
      </p:sp>
      <p:sp>
        <p:nvSpPr>
          <p:cNvPr id="34" name="Google Shape;34;p3"/>
          <p:cNvSpPr/>
          <p:nvPr>
            <p:ph idx="17" type="body"/>
          </p:nvPr>
        </p:nvSpPr>
        <p:spPr>
          <a:xfrm>
            <a:off x="29541149" y="5606311"/>
            <a:ext cx="137160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8" type="body"/>
          </p:nvPr>
        </p:nvSpPr>
        <p:spPr>
          <a:xfrm>
            <a:off x="29489399" y="7025569"/>
            <a:ext cx="13767749" cy="751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2286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None/>
              <a:defRPr sz="2743"/>
            </a:lvl6pPr>
            <a:lvl7pPr indent="-40278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7pPr>
            <a:lvl8pPr indent="-40278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8pPr>
            <a:lvl9pPr indent="-40278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9pPr>
          </a:lstStyle>
          <a:p/>
        </p:txBody>
      </p:sp>
      <p:sp>
        <p:nvSpPr>
          <p:cNvPr id="36" name="Google Shape;36;p3"/>
          <p:cNvSpPr txBox="1"/>
          <p:nvPr>
            <p:ph idx="19" type="body"/>
          </p:nvPr>
        </p:nvSpPr>
        <p:spPr>
          <a:xfrm>
            <a:off x="29417805" y="15000019"/>
            <a:ext cx="13767749" cy="751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40278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6pPr>
            <a:lvl7pPr indent="-40278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7pPr>
            <a:lvl8pPr indent="-40278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8pPr>
            <a:lvl9pPr indent="-40278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9pPr>
          </a:lstStyle>
          <a:p/>
        </p:txBody>
      </p:sp>
      <p:sp>
        <p:nvSpPr>
          <p:cNvPr id="37" name="Google Shape;37;p3"/>
          <p:cNvSpPr/>
          <p:nvPr>
            <p:ph idx="20" type="body"/>
          </p:nvPr>
        </p:nvSpPr>
        <p:spPr>
          <a:xfrm>
            <a:off x="29364298" y="22934471"/>
            <a:ext cx="13716000" cy="1216152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21" type="body"/>
          </p:nvPr>
        </p:nvSpPr>
        <p:spPr>
          <a:xfrm>
            <a:off x="29512260" y="24615325"/>
            <a:ext cx="13568038" cy="710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>
            <a:lvl1pPr indent="-5080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0"/>
              <a:buChar char="•"/>
              <a:defRPr sz="4400"/>
            </a:lvl1pPr>
            <a:lvl2pPr indent="-482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2pPr>
            <a:lvl3pPr indent="-482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3pPr>
            <a:lvl4pPr indent="-482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4pPr>
            <a:lvl5pPr indent="-482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000"/>
              <a:buChar char="•"/>
              <a:defRPr sz="4000"/>
            </a:lvl5pPr>
            <a:lvl6pPr indent="-40278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6pPr>
            <a:lvl7pPr indent="-40278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7pPr>
            <a:lvl8pPr indent="-40278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8pPr>
            <a:lvl9pPr indent="-40278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43"/>
              <a:buChar char="•"/>
              <a:defRPr sz="2743"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>
            <a:off x="43891200" y="2552699"/>
            <a:ext cx="12447270" cy="32918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274300" spcFirstLastPara="1" rIns="2743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Printing: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This poster is 48” wide by 36” high. It’s designed to be printed on a large-format printer.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Customizing the Content: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 placeholders in this poster are formatted for you. Type in the placeholders to add text, or click an icon to add a table, chart, SmartArt graphic, picture or multimedia file.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To add or remove bullet points from text, just click the Bullets button on the Home tab.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 you need more placeholders for titles, content or body text, just make a copy of what you need and drag it into place. PowerPoint’s Smart Guides will help you align it with everything else.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Want to use your own pictures instead of ours? No problem! Just right-click a picture and choose Change Picture. Maintain the proportion of pictures as you resize by dragging a corner.</a:t>
            </a:r>
            <a:endParaRPr b="0" i="0" sz="6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0" y="-21955"/>
            <a:ext cx="8021782" cy="514266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-up of a logo&#10;&#10;AI-generated content may be incorrect." id="41" name="Google Shape;4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994" y="554322"/>
            <a:ext cx="7202025" cy="4156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9168">
          <p15:clr>
            <a:srgbClr val="A4A3A4"/>
          </p15:clr>
        </p15:guide>
        <p15:guide id="2" pos="18480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43891200" cy="502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6"/>
              <a:buFont typeface="Arial"/>
              <a:buNone/>
            </a:pPr>
            <a:r>
              <a:t/>
            </a:r>
            <a:endParaRPr b="0" i="0" sz="8466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6400800" y="990600"/>
            <a:ext cx="31089600" cy="2514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mbria"/>
              <a:buNone/>
              <a:defRPr b="1" i="0" sz="8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6400800" y="6019800"/>
            <a:ext cx="31089600" cy="236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8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1143000" y="3211469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11018520" y="32114698"/>
            <a:ext cx="2185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32872680" y="3211469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0368">
          <p15:clr>
            <a:srgbClr val="A4A3A4"/>
          </p15:clr>
        </p15:guide>
        <p15:guide id="2" pos="720">
          <p15:clr>
            <a:srgbClr val="A4A3A4"/>
          </p15:clr>
        </p15:guide>
        <p15:guide id="3" pos="26928">
          <p15:clr>
            <a:srgbClr val="A4A3A4"/>
          </p15:clr>
        </p15:guide>
        <p15:guide id="4" pos="1382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mathworld.wolfram.com/LogNormalDistribution.html" TargetMode="External"/><Relationship Id="rId10" Type="http://schemas.openxmlformats.org/officeDocument/2006/relationships/hyperlink" Target="https://www.itl.nist.gov/div898/handbook/eda/section3/eda3669.htm" TargetMode="External"/><Relationship Id="rId13" Type="http://schemas.openxmlformats.org/officeDocument/2006/relationships/hyperlink" Target="https://www.kaggle.com/competitions/allstate-claims-severity" TargetMode="External"/><Relationship Id="rId12" Type="http://schemas.openxmlformats.org/officeDocument/2006/relationships/hyperlink" Target="https://docs.scipy.org/doc/scipy/reference/generated/scipy.optimize.newton.html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hyperlink" Target="https://docs.scipy.org/doc/scipy/reference/generated/scipy.interpolate.CubicSpline.html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hyperlink" Target="https://towardsdatascience.com/log-normal-distribution-a-simple-explanation-7605864fb67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title"/>
          </p:nvPr>
        </p:nvSpPr>
        <p:spPr>
          <a:xfrm>
            <a:off x="8381999" y="762000"/>
            <a:ext cx="34165183" cy="2182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mbria"/>
              <a:buNone/>
            </a:pPr>
            <a:r>
              <a:rPr lang="en-US"/>
              <a:t>Estimating Insurance Loss Using Numerical Methods: A Comparison of Lognormal and Spline Models</a:t>
            </a:r>
            <a:endParaRPr/>
          </a:p>
        </p:txBody>
      </p:sp>
      <p:sp>
        <p:nvSpPr>
          <p:cNvPr id="47" name="Google Shape;47;p1"/>
          <p:cNvSpPr txBox="1"/>
          <p:nvPr>
            <p:ph idx="1" type="body"/>
          </p:nvPr>
        </p:nvSpPr>
        <p:spPr>
          <a:xfrm>
            <a:off x="8381999" y="2944368"/>
            <a:ext cx="34165183" cy="1246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Nathan Tassey and Patrick Lakomy - MATH 342 - Roger Williams University - Spring 2026</a:t>
            </a:r>
            <a:endParaRPr/>
          </a:p>
        </p:txBody>
      </p:sp>
      <p:sp>
        <p:nvSpPr>
          <p:cNvPr id="48" name="Google Shape;48;p1"/>
          <p:cNvSpPr/>
          <p:nvPr>
            <p:ph idx="2" type="body"/>
          </p:nvPr>
        </p:nvSpPr>
        <p:spPr>
          <a:xfrm>
            <a:off x="728843" y="5606301"/>
            <a:ext cx="10548000" cy="1216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/>
              <a:t>Introduction/ Problem</a:t>
            </a:r>
            <a:endParaRPr/>
          </a:p>
        </p:txBody>
      </p:sp>
      <p:sp>
        <p:nvSpPr>
          <p:cNvPr id="49" name="Google Shape;49;p1"/>
          <p:cNvSpPr txBox="1"/>
          <p:nvPr>
            <p:ph idx="3" type="body"/>
          </p:nvPr>
        </p:nvSpPr>
        <p:spPr>
          <a:xfrm>
            <a:off x="728843" y="6885049"/>
            <a:ext cx="10548000" cy="7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Arial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Insurance companies must estimate the expected loss per policy, E[X], to determine fair premiums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Arial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Real-world loss data are highly right-skewed, making analytical solutions difficult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Arial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This project uses numerical methods to approximate expected loss from real data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Arial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Multiple approaches are explored, including lognormal modeling, spline interpolation, and numerical integration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Arial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The goal is to compare methods and evaluate their effectiveness in estimating premiums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>
            <p:ph idx="4" type="body"/>
          </p:nvPr>
        </p:nvSpPr>
        <p:spPr>
          <a:xfrm>
            <a:off x="728843" y="13588861"/>
            <a:ext cx="10548000" cy="8943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5"/>
              <a:buNone/>
            </a:pPr>
            <a:r>
              <a:rPr lang="en-US" sz="6105"/>
              <a:t>Data</a:t>
            </a:r>
            <a:endParaRPr sz="6105"/>
          </a:p>
        </p:txBody>
      </p:sp>
      <p:sp>
        <p:nvSpPr>
          <p:cNvPr id="51" name="Google Shape;51;p1"/>
          <p:cNvSpPr txBox="1"/>
          <p:nvPr>
            <p:ph idx="5" type="body"/>
          </p:nvPr>
        </p:nvSpPr>
        <p:spPr>
          <a:xfrm>
            <a:off x="728843" y="14737124"/>
            <a:ext cx="10548000" cy="4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 lnSpcReduction="2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Real-world insurance claims dataset (Allstate)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Focus on loss amount (claim severity)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Risk score used for spline modeling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Data are highly right-skewed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Log-transformed losses appear approximately normal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188,318 claims were collected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>
            <p:ph idx="8" type="body"/>
          </p:nvPr>
        </p:nvSpPr>
        <p:spPr>
          <a:xfrm>
            <a:off x="11747725" y="5606300"/>
            <a:ext cx="195954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/>
              <a:t>Numerical Methods</a:t>
            </a:r>
            <a:endParaRPr/>
          </a:p>
        </p:txBody>
      </p:sp>
      <p:sp>
        <p:nvSpPr>
          <p:cNvPr id="53" name="Google Shape;53;p1"/>
          <p:cNvSpPr txBox="1"/>
          <p:nvPr>
            <p:ph idx="9" type="body"/>
          </p:nvPr>
        </p:nvSpPr>
        <p:spPr>
          <a:xfrm>
            <a:off x="11859090" y="6753920"/>
            <a:ext cx="193728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To get a proper estimate of the expected value of losses, three numerical methods were used. Each them was compared, to ensure we had an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accurate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model for the expected value.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b="1" lang="en-US" sz="3700">
                <a:latin typeface="Cambria"/>
                <a:ea typeface="Cambria"/>
                <a:cs typeface="Cambria"/>
                <a:sym typeface="Cambria"/>
              </a:rPr>
              <a:t>E[X] ~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expected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value, or expected loss for the insurance company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>
            <p:ph idx="17" type="body"/>
          </p:nvPr>
        </p:nvSpPr>
        <p:spPr>
          <a:xfrm>
            <a:off x="31774900" y="5606300"/>
            <a:ext cx="114132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/>
              <a:t>Solution Comparison</a:t>
            </a:r>
            <a:endParaRPr/>
          </a:p>
        </p:txBody>
      </p:sp>
      <p:pic>
        <p:nvPicPr>
          <p:cNvPr id="55" name="Google Shape;55;p1" title="data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575" y="18785858"/>
            <a:ext cx="8436521" cy="527282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>
            <p:ph idx="5" type="body"/>
          </p:nvPr>
        </p:nvSpPr>
        <p:spPr>
          <a:xfrm>
            <a:off x="1184900" y="18416369"/>
            <a:ext cx="100920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 lnSpcReduction="2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Histogram of Original Loss Data: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pic>
        <p:nvPicPr>
          <p:cNvPr id="57" name="Google Shape;57;p1" title="data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5026" y="26479906"/>
            <a:ext cx="8065802" cy="504111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>
            <p:ph idx="5" type="body"/>
          </p:nvPr>
        </p:nvSpPr>
        <p:spPr>
          <a:xfrm>
            <a:off x="1132675" y="23811260"/>
            <a:ext cx="10092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 lnSpcReduction="10000"/>
          </a:bodyPr>
          <a:lstStyle/>
          <a:p>
            <a:pPr indent="-177790" lvl="0" marL="45719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  This histogram shows the distribution of positive claim loss amounts, or claim severities. Most are small, with few extreme outliers. This strong right skew indicates asymmetric data and motivates a lognormal model to capture the distribution of the losses</a:t>
            </a:r>
            <a:endParaRPr/>
          </a:p>
        </p:txBody>
      </p:sp>
      <p:sp>
        <p:nvSpPr>
          <p:cNvPr id="59" name="Google Shape;59;p1"/>
          <p:cNvSpPr txBox="1"/>
          <p:nvPr>
            <p:ph idx="5" type="body"/>
          </p:nvPr>
        </p:nvSpPr>
        <p:spPr>
          <a:xfrm>
            <a:off x="880800" y="25786696"/>
            <a:ext cx="105480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 lnSpcReduction="2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Histogram of Lognormal Transformation: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 txBox="1"/>
          <p:nvPr>
            <p:ph idx="9" type="body"/>
          </p:nvPr>
        </p:nvSpPr>
        <p:spPr>
          <a:xfrm>
            <a:off x="11879450" y="9250400"/>
            <a:ext cx="14862000" cy="3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For a lognormal random variable: E[X] = e</a:t>
            </a:r>
            <a:r>
              <a:rPr baseline="30000" lang="en-US" sz="3700">
                <a:latin typeface="Cambria"/>
                <a:ea typeface="Cambria"/>
                <a:cs typeface="Cambria"/>
                <a:sym typeface="Cambria"/>
              </a:rPr>
              <a:t>μ + 2σ^2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Use Newton’s method to estimate σ (standard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deviation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)  for Maximum Likelihood Expectation which states: 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700">
                <a:solidFill>
                  <a:srgbClr val="A64D79"/>
                </a:solidFill>
                <a:latin typeface="Cambria"/>
                <a:ea typeface="Cambria"/>
                <a:cs typeface="Cambria"/>
                <a:sym typeface="Cambria"/>
              </a:rPr>
              <a:t>f(σ) = (1/n) Σ ( (xᵢ − μ)² / σ² ) − 1</a:t>
            </a:r>
            <a:endParaRPr b="1" sz="3700">
              <a:solidFill>
                <a:srgbClr val="A64D7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Method States: </a:t>
            </a:r>
            <a:r>
              <a:rPr b="1" lang="en-US" sz="3700">
                <a:solidFill>
                  <a:srgbClr val="A64D79"/>
                </a:solidFill>
                <a:latin typeface="Cambria"/>
                <a:ea typeface="Cambria"/>
                <a:cs typeface="Cambria"/>
                <a:sym typeface="Cambria"/>
              </a:rPr>
              <a:t>σ(n)</a:t>
            </a:r>
            <a:r>
              <a:rPr b="1" lang="en-US" sz="3700">
                <a:solidFill>
                  <a:srgbClr val="A64D79"/>
                </a:solidFill>
                <a:latin typeface="Cambria"/>
                <a:ea typeface="Cambria"/>
                <a:cs typeface="Cambria"/>
                <a:sym typeface="Cambria"/>
              </a:rPr>
              <a:t> = σ(n-1) − f(σ(n-1)) / f′(σ(n-1))</a:t>
            </a:r>
            <a:endParaRPr b="1" sz="3700">
              <a:solidFill>
                <a:srgbClr val="A64D7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Each time we get a new stdev (</a:t>
            </a:r>
            <a:r>
              <a:rPr b="1" lang="en-US" sz="3700">
                <a:solidFill>
                  <a:srgbClr val="A64D79"/>
                </a:solidFill>
                <a:latin typeface="Cambria"/>
                <a:ea typeface="Cambria"/>
                <a:cs typeface="Cambria"/>
                <a:sym typeface="Cambria"/>
              </a:rPr>
              <a:t>σ),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we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iteratively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plug it into the above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equation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until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a stable value is reached (repeated value) 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Once the proper </a:t>
            </a:r>
            <a:r>
              <a:rPr b="1" lang="en-US" sz="3700">
                <a:solidFill>
                  <a:srgbClr val="A64D79"/>
                </a:solidFill>
                <a:latin typeface="Cambria"/>
                <a:ea typeface="Cambria"/>
                <a:cs typeface="Cambria"/>
                <a:sym typeface="Cambria"/>
              </a:rPr>
              <a:t>σ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is reached we plug it back into E[X]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1" sz="3700">
              <a:solidFill>
                <a:srgbClr val="CC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"/>
          <p:cNvSpPr txBox="1"/>
          <p:nvPr>
            <p:ph idx="9" type="body"/>
          </p:nvPr>
        </p:nvSpPr>
        <p:spPr>
          <a:xfrm>
            <a:off x="11879443" y="8445190"/>
            <a:ext cx="193728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5500">
                <a:solidFill>
                  <a:srgbClr val="A64D79"/>
                </a:solidFill>
                <a:latin typeface="Cambria"/>
                <a:ea typeface="Cambria"/>
                <a:cs typeface="Cambria"/>
                <a:sym typeface="Cambria"/>
              </a:rPr>
              <a:t>(1) Newton’s Root Finding:</a:t>
            </a:r>
            <a:endParaRPr b="1" sz="5500">
              <a:solidFill>
                <a:srgbClr val="A64D7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 txBox="1"/>
          <p:nvPr>
            <p:ph idx="9" type="body"/>
          </p:nvPr>
        </p:nvSpPr>
        <p:spPr>
          <a:xfrm>
            <a:off x="11879443" y="19956364"/>
            <a:ext cx="9491100" cy="3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Construct a Cubic Spline for population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find E[X] by: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700">
                <a:solidFill>
                  <a:srgbClr val="45818E"/>
                </a:solidFill>
                <a:latin typeface="Cambria"/>
                <a:ea typeface="Cambria"/>
                <a:cs typeface="Cambria"/>
                <a:sym typeface="Cambria"/>
              </a:rPr>
              <a:t>E[X] = ( ∫ₐᵇ f(x) dx ) / (b − a)</a:t>
            </a:r>
            <a:endParaRPr sz="3700">
              <a:solidFill>
                <a:srgbClr val="45818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a = minimum, b = maximum, f(x) = Spline 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 txBox="1"/>
          <p:nvPr>
            <p:ph idx="9" type="body"/>
          </p:nvPr>
        </p:nvSpPr>
        <p:spPr>
          <a:xfrm>
            <a:off x="11879443" y="19175745"/>
            <a:ext cx="193728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5000">
                <a:solidFill>
                  <a:srgbClr val="45818E"/>
                </a:solidFill>
                <a:latin typeface="Cambria"/>
                <a:ea typeface="Cambria"/>
                <a:cs typeface="Cambria"/>
                <a:sym typeface="Cambria"/>
              </a:rPr>
              <a:t>(2a) Full Cubic Spline:</a:t>
            </a:r>
            <a:endParaRPr b="1" sz="5000">
              <a:solidFill>
                <a:srgbClr val="45818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 txBox="1"/>
          <p:nvPr>
            <p:ph idx="9" type="body"/>
          </p:nvPr>
        </p:nvSpPr>
        <p:spPr>
          <a:xfrm>
            <a:off x="22134874" y="27642575"/>
            <a:ext cx="8436600" cy="3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-4572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Construct </a:t>
            </a:r>
            <a:r>
              <a:rPr b="1" lang="en-US" sz="3700">
                <a:solidFill>
                  <a:srgbClr val="3C78D8"/>
                </a:solidFill>
                <a:latin typeface="Cambria"/>
                <a:ea typeface="Cambria"/>
                <a:cs typeface="Cambria"/>
                <a:sym typeface="Cambria"/>
              </a:rPr>
              <a:t>Two</a:t>
            </a:r>
            <a:r>
              <a:rPr b="1" lang="en-US" sz="37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Cubic Splnes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63550" lvl="1" marL="914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One for group </a:t>
            </a:r>
            <a:r>
              <a:rPr b="1" lang="en-US" sz="3700">
                <a:solidFill>
                  <a:srgbClr val="38761D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b="1" lang="en-US" sz="3700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3700">
              <a:solidFill>
                <a:srgbClr val="BF9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Find E[X] by: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700">
                <a:solidFill>
                  <a:srgbClr val="3C78D8"/>
                </a:solidFill>
                <a:latin typeface="Cambria"/>
                <a:ea typeface="Cambria"/>
                <a:cs typeface="Cambria"/>
                <a:sym typeface="Cambria"/>
              </a:rPr>
              <a:t>E[X] = </a:t>
            </a:r>
            <a:r>
              <a:rPr b="1" lang="en-US" sz="3700">
                <a:solidFill>
                  <a:srgbClr val="CC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3700">
                <a:solidFill>
                  <a:srgbClr val="38761D"/>
                </a:solidFill>
                <a:latin typeface="Cambria"/>
                <a:ea typeface="Cambria"/>
                <a:cs typeface="Cambria"/>
                <a:sym typeface="Cambria"/>
              </a:rPr>
              <a:t>P(A)(∫ f(a))</a:t>
            </a:r>
            <a:r>
              <a:rPr b="1" lang="en-US" sz="3700">
                <a:solidFill>
                  <a:srgbClr val="CC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3700">
                <a:solidFill>
                  <a:srgbClr val="3C78D8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r>
              <a:rPr b="1" lang="en-US" sz="3700">
                <a:solidFill>
                  <a:srgbClr val="CC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3700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P(B)(∫ f(b))</a:t>
            </a:r>
            <a:endParaRPr b="1" sz="3700">
              <a:solidFill>
                <a:srgbClr val="BF9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Where </a:t>
            </a:r>
            <a:r>
              <a:rPr lang="en-US" sz="3700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3700">
                <a:solidFill>
                  <a:srgbClr val="38761D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are different groups in data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		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 txBox="1"/>
          <p:nvPr>
            <p:ph idx="9" type="body"/>
          </p:nvPr>
        </p:nvSpPr>
        <p:spPr>
          <a:xfrm>
            <a:off x="11224682" y="26630660"/>
            <a:ext cx="193728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5000">
                <a:solidFill>
                  <a:srgbClr val="3C78D8"/>
                </a:solidFill>
                <a:latin typeface="Cambria"/>
                <a:ea typeface="Cambria"/>
                <a:cs typeface="Cambria"/>
                <a:sym typeface="Cambria"/>
              </a:rPr>
              <a:t>(2b) Split Cubic Spline:</a:t>
            </a:r>
            <a:endParaRPr b="1" sz="5000">
              <a:solidFill>
                <a:srgbClr val="3C78D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pic>
        <p:nvPicPr>
          <p:cNvPr id="66" name="Google Shape;66;p1" title="cs1.png"/>
          <p:cNvPicPr preferRelativeResize="0"/>
          <p:nvPr/>
        </p:nvPicPr>
        <p:blipFill rotWithShape="1">
          <a:blip r:embed="rId5">
            <a:alphaModFix/>
          </a:blip>
          <a:srcRect b="0" l="0" r="5953" t="0"/>
          <a:stretch/>
        </p:blipFill>
        <p:spPr>
          <a:xfrm>
            <a:off x="21370552" y="19375166"/>
            <a:ext cx="9491098" cy="5155126"/>
          </a:xfrm>
          <a:prstGeom prst="rect">
            <a:avLst/>
          </a:prstGeom>
          <a:noFill/>
          <a:ln cap="flat" cmpd="sng" w="28575">
            <a:solidFill>
              <a:srgbClr val="00376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" name="Google Shape;67;p1"/>
          <p:cNvSpPr/>
          <p:nvPr>
            <p:ph idx="17" type="body"/>
          </p:nvPr>
        </p:nvSpPr>
        <p:spPr>
          <a:xfrm>
            <a:off x="31774900" y="20359311"/>
            <a:ext cx="114132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/>
              <a:t>Assumptions </a:t>
            </a:r>
            <a:endParaRPr/>
          </a:p>
        </p:txBody>
      </p:sp>
      <p:sp>
        <p:nvSpPr>
          <p:cNvPr id="68" name="Google Shape;68;p1"/>
          <p:cNvSpPr txBox="1"/>
          <p:nvPr>
            <p:ph idx="18" type="body"/>
          </p:nvPr>
        </p:nvSpPr>
        <p:spPr>
          <a:xfrm>
            <a:off x="31753450" y="21528714"/>
            <a:ext cx="11456100" cy="25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Losses follow a lognormal distribution.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Binning does not change the risk–loss relationship.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Each bin midpoint represents its data.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The cubic spline smoothly models the loss function.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Observations are independent and exposure is constant.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" name="Google Shape;69;p1"/>
          <p:cNvSpPr/>
          <p:nvPr>
            <p:ph idx="17" type="body"/>
          </p:nvPr>
        </p:nvSpPr>
        <p:spPr>
          <a:xfrm>
            <a:off x="31774900" y="25243024"/>
            <a:ext cx="114132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/>
              <a:t>Drawbacks</a:t>
            </a:r>
            <a:endParaRPr/>
          </a:p>
        </p:txBody>
      </p:sp>
      <p:sp>
        <p:nvSpPr>
          <p:cNvPr id="70" name="Google Shape;70;p1"/>
          <p:cNvSpPr txBox="1"/>
          <p:nvPr>
            <p:ph idx="18" type="body"/>
          </p:nvPr>
        </p:nvSpPr>
        <p:spPr>
          <a:xfrm>
            <a:off x="31753450" y="26412447"/>
            <a:ext cx="11456100" cy="3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The dataset is anonymized, limiting context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No exposure data, so frequency cannot be modeled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Binning leads to some loss of information.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Sparse bin data may cause spline overfitting.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Lognormal assumption may not capture tail risk </a:t>
            </a:r>
            <a:endParaRPr/>
          </a:p>
        </p:txBody>
      </p:sp>
      <p:sp>
        <p:nvSpPr>
          <p:cNvPr id="71" name="Google Shape;71;p1"/>
          <p:cNvSpPr txBox="1"/>
          <p:nvPr>
            <p:ph idx="9" type="body"/>
          </p:nvPr>
        </p:nvSpPr>
        <p:spPr>
          <a:xfrm>
            <a:off x="25217234" y="9251019"/>
            <a:ext cx="5938500" cy="3127800"/>
          </a:xfrm>
          <a:prstGeom prst="rect">
            <a:avLst/>
          </a:prstGeom>
          <a:noFill/>
          <a:ln cap="flat" cmpd="sng" w="28575">
            <a:solidFill>
              <a:srgbClr val="00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500">
                <a:solidFill>
                  <a:srgbClr val="003765"/>
                </a:solidFill>
                <a:latin typeface="Cambria"/>
                <a:ea typeface="Cambria"/>
                <a:cs typeface="Cambria"/>
                <a:sym typeface="Cambria"/>
              </a:rPr>
              <a:t>Solution</a:t>
            </a:r>
            <a:r>
              <a:rPr b="1" lang="en-US" sz="4500">
                <a:latin typeface="Cambria"/>
                <a:ea typeface="Cambria"/>
                <a:cs typeface="Cambria"/>
                <a:sym typeface="Cambria"/>
              </a:rPr>
              <a:t>:</a:t>
            </a:r>
            <a:endParaRPr b="1" sz="45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500">
                <a:solidFill>
                  <a:srgbClr val="A64D79"/>
                </a:solidFill>
                <a:latin typeface="Cambria"/>
                <a:ea typeface="Cambria"/>
                <a:cs typeface="Cambria"/>
                <a:sym typeface="Cambria"/>
              </a:rPr>
              <a:t>σ = </a:t>
            </a:r>
            <a:r>
              <a:rPr b="1" lang="en-US" sz="4500">
                <a:solidFill>
                  <a:srgbClr val="A64D79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0.8112</a:t>
            </a:r>
            <a:endParaRPr b="1" sz="4500">
              <a:solidFill>
                <a:srgbClr val="A64D79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500">
                <a:solidFill>
                  <a:srgbClr val="A64D79"/>
                </a:solidFill>
                <a:latin typeface="Cambria"/>
                <a:ea typeface="Cambria"/>
                <a:cs typeface="Cambria"/>
                <a:sym typeface="Cambria"/>
              </a:rPr>
              <a:t>E[X] = </a:t>
            </a:r>
            <a:r>
              <a:rPr b="1" lang="en-US" sz="4500">
                <a:solidFill>
                  <a:srgbClr val="A64D79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3025.49</a:t>
            </a:r>
            <a:endParaRPr b="1" sz="4500">
              <a:solidFill>
                <a:srgbClr val="A64D79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1"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1" sz="37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2" name="Google Shape;72;p1"/>
          <p:cNvSpPr txBox="1"/>
          <p:nvPr>
            <p:ph idx="9" type="body"/>
          </p:nvPr>
        </p:nvSpPr>
        <p:spPr>
          <a:xfrm>
            <a:off x="11852543" y="13804908"/>
            <a:ext cx="193728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5500">
                <a:solidFill>
                  <a:srgbClr val="003765"/>
                </a:solidFill>
                <a:latin typeface="Cambria"/>
                <a:ea typeface="Cambria"/>
                <a:cs typeface="Cambria"/>
                <a:sym typeface="Cambria"/>
              </a:rPr>
              <a:t>(2) Cubic Spline Model(s) + Numerical Integration:</a:t>
            </a:r>
            <a:endParaRPr b="1" sz="5500">
              <a:solidFill>
                <a:srgbClr val="00376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73" name="Google Shape;73;p1"/>
          <p:cNvSpPr txBox="1"/>
          <p:nvPr>
            <p:ph idx="9" type="body"/>
          </p:nvPr>
        </p:nvSpPr>
        <p:spPr>
          <a:xfrm>
            <a:off x="11879450" y="14753978"/>
            <a:ext cx="193728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Both spline based methods following they same procedure: 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63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Construct a natural cubic spline in which each spline is in the form of 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700">
                <a:solidFill>
                  <a:srgbClr val="003765"/>
                </a:solidFill>
                <a:latin typeface="Cambria"/>
                <a:ea typeface="Cambria"/>
                <a:cs typeface="Cambria"/>
                <a:sym typeface="Cambria"/>
              </a:rPr>
              <a:t>Sᵢ(x) = aᵢ + bᵢ(x - xᵢ) + cᵢ(x - xᵢ)² + dᵢ(x - xᵢ)³</a:t>
            </a:r>
            <a:endParaRPr b="1" sz="3700">
              <a:solidFill>
                <a:srgbClr val="00376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Each spline piece is construction based on an interval of our risk scores. Given that we split our risk scores into five bins, each full spline will have 4 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distinct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 equations.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Font typeface="Cambria"/>
              <a:buChar char="•"/>
            </a:pP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Then use numerical integration (</a:t>
            </a:r>
            <a:r>
              <a:rPr b="1" lang="en-US" sz="3700">
                <a:latin typeface="Cambria"/>
                <a:ea typeface="Cambria"/>
                <a:cs typeface="Cambria"/>
                <a:sym typeface="Cambria"/>
              </a:rPr>
              <a:t>Simpson’s ⅓ Composite Rule</a:t>
            </a:r>
            <a:r>
              <a:rPr lang="en-US" sz="3700">
                <a:latin typeface="Cambria"/>
                <a:ea typeface="Cambria"/>
                <a:cs typeface="Cambria"/>
                <a:sym typeface="Cambria"/>
              </a:rPr>
              <a:t>) to approximate E[X}</a:t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700">
                <a:solidFill>
                  <a:srgbClr val="003765"/>
                </a:solidFill>
                <a:latin typeface="Cambria"/>
                <a:ea typeface="Cambria"/>
                <a:cs typeface="Cambria"/>
                <a:sym typeface="Cambria"/>
              </a:rPr>
              <a:t>						∫ₐᵇ f(x) dx ≈ (h/3)[ f(x₀) + 4Σ f(xᵢ) (odd i) + 2Σ f(xᵢ) (even i) + f(x(n)) ]</a:t>
            </a:r>
            <a:endParaRPr sz="3700">
              <a:solidFill>
                <a:srgbClr val="00376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" name="Google Shape;74;p1"/>
          <p:cNvSpPr txBox="1"/>
          <p:nvPr>
            <p:ph idx="9" type="body"/>
          </p:nvPr>
        </p:nvSpPr>
        <p:spPr>
          <a:xfrm>
            <a:off x="12366775" y="22492392"/>
            <a:ext cx="8065800" cy="2037900"/>
          </a:xfrm>
          <a:prstGeom prst="rect">
            <a:avLst/>
          </a:prstGeom>
          <a:noFill/>
          <a:ln cap="flat" cmpd="sng" w="28575">
            <a:solidFill>
              <a:srgbClr val="00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500">
                <a:solidFill>
                  <a:srgbClr val="003765"/>
                </a:solidFill>
                <a:latin typeface="Cambria"/>
                <a:ea typeface="Cambria"/>
                <a:cs typeface="Cambria"/>
                <a:sym typeface="Cambria"/>
              </a:rPr>
              <a:t>Solution</a:t>
            </a:r>
            <a:r>
              <a:rPr lang="en-US" sz="4500">
                <a:latin typeface="Cambria"/>
                <a:ea typeface="Cambria"/>
                <a:cs typeface="Cambria"/>
                <a:sym typeface="Cambria"/>
              </a:rPr>
              <a:t>:</a:t>
            </a:r>
            <a:endParaRPr sz="4500"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500">
                <a:solidFill>
                  <a:srgbClr val="45818E"/>
                </a:solidFill>
                <a:latin typeface="Cambria"/>
                <a:ea typeface="Cambria"/>
                <a:cs typeface="Cambria"/>
                <a:sym typeface="Cambria"/>
              </a:rPr>
              <a:t>E[X] = </a:t>
            </a:r>
            <a:r>
              <a:rPr b="1" lang="en-US" sz="4500">
                <a:solidFill>
                  <a:srgbClr val="45818E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3059.129</a:t>
            </a:r>
            <a:endParaRPr b="1" sz="4500">
              <a:solidFill>
                <a:srgbClr val="45818E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5" name="Google Shape;75;p1" title="premium_curve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86738" y="24552656"/>
            <a:ext cx="9491101" cy="52728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" name="Google Shape;76;p1"/>
          <p:cNvSpPr txBox="1"/>
          <p:nvPr>
            <p:ph idx="9" type="body"/>
          </p:nvPr>
        </p:nvSpPr>
        <p:spPr>
          <a:xfrm>
            <a:off x="22465612" y="30707922"/>
            <a:ext cx="8065800" cy="2037900"/>
          </a:xfrm>
          <a:prstGeom prst="rect">
            <a:avLst/>
          </a:prstGeom>
          <a:noFill/>
          <a:ln cap="flat" cmpd="sng" w="28575">
            <a:solidFill>
              <a:srgbClr val="00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500">
                <a:solidFill>
                  <a:srgbClr val="003765"/>
                </a:solidFill>
                <a:latin typeface="Cambria"/>
                <a:ea typeface="Cambria"/>
                <a:cs typeface="Cambria"/>
                <a:sym typeface="Cambria"/>
              </a:rPr>
              <a:t>Solution</a:t>
            </a:r>
            <a:r>
              <a:rPr lang="en-US" sz="4500">
                <a:latin typeface="Cambria"/>
                <a:ea typeface="Cambria"/>
                <a:cs typeface="Cambria"/>
                <a:sym typeface="Cambria"/>
              </a:rPr>
              <a:t>:</a:t>
            </a:r>
            <a:endParaRPr sz="4500"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500">
                <a:solidFill>
                  <a:srgbClr val="3C78D8"/>
                </a:solidFill>
                <a:latin typeface="Cambria"/>
                <a:ea typeface="Cambria"/>
                <a:cs typeface="Cambria"/>
                <a:sym typeface="Cambria"/>
              </a:rPr>
              <a:t>E[X] = </a:t>
            </a:r>
            <a:r>
              <a:rPr b="1" lang="en-US" sz="4500">
                <a:solidFill>
                  <a:srgbClr val="3C78D8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3059.917</a:t>
            </a:r>
            <a:endParaRPr b="1" sz="4500">
              <a:solidFill>
                <a:srgbClr val="3C78D8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37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31774900" y="6775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{1BE56B0C-A206-4450-B3AA-777A59D3C4B0}</a:tableStyleId>
              </a:tblPr>
              <a:tblGrid>
                <a:gridCol w="2305250"/>
                <a:gridCol w="5303550"/>
                <a:gridCol w="3804400"/>
              </a:tblGrid>
              <a:tr h="62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b="1" lang="en-US" sz="37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Method #</a:t>
                      </a:r>
                      <a:endParaRPr b="1" sz="37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b="1" lang="en-US" sz="37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b="1" sz="37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b="1" lang="en-US" sz="37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E[X] Estimate</a:t>
                      </a:r>
                      <a:endParaRPr b="1" sz="37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A64D79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(1)</a:t>
                      </a:r>
                      <a:endParaRPr sz="3700" u="none" cap="none" strike="noStrike">
                        <a:solidFill>
                          <a:srgbClr val="A64D79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A64D79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Newton’s Root Finding</a:t>
                      </a:r>
                      <a:endParaRPr sz="3700" u="none" cap="none" strike="noStrike">
                        <a:solidFill>
                          <a:srgbClr val="A64D79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A64D79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3025.49</a:t>
                      </a:r>
                      <a:endParaRPr sz="3700" u="none" cap="none" strike="noStrike">
                        <a:solidFill>
                          <a:srgbClr val="A64D79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45818E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(2a)</a:t>
                      </a:r>
                      <a:endParaRPr sz="3700" u="none" cap="none" strike="noStrike">
                        <a:solidFill>
                          <a:srgbClr val="45818E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45818E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Full Cubic Spline</a:t>
                      </a:r>
                      <a:endParaRPr sz="3700" u="none" cap="none" strike="noStrike">
                        <a:solidFill>
                          <a:srgbClr val="45818E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45818E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3059.129</a:t>
                      </a:r>
                      <a:endParaRPr sz="3700" u="none" cap="none" strike="noStrike">
                        <a:solidFill>
                          <a:srgbClr val="45818E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3C78D8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(2b)</a:t>
                      </a:r>
                      <a:endParaRPr sz="3700" u="none" cap="none" strike="noStrike">
                        <a:solidFill>
                          <a:srgbClr val="3C78D8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3C78D8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Split Cubic Spline</a:t>
                      </a:r>
                      <a:endParaRPr sz="3700" u="none" cap="none" strike="noStrike">
                        <a:solidFill>
                          <a:srgbClr val="3C78D8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700"/>
                        <a:buFont typeface="Arial"/>
                        <a:buNone/>
                      </a:pPr>
                      <a:r>
                        <a:rPr lang="en-US" sz="3700" u="none" cap="none" strike="noStrike">
                          <a:solidFill>
                            <a:srgbClr val="3C78D8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3059.917</a:t>
                      </a:r>
                      <a:endParaRPr sz="3700" u="none" cap="none" strike="noStrike">
                        <a:solidFill>
                          <a:srgbClr val="3C78D8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8" name="Google Shape;78;p1" title="comparison_graph (1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19000" y="10370413"/>
            <a:ext cx="952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/>
          <p:nvPr>
            <p:ph idx="17" type="body"/>
          </p:nvPr>
        </p:nvSpPr>
        <p:spPr>
          <a:xfrm>
            <a:off x="31774900" y="29764937"/>
            <a:ext cx="114132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80" name="Google Shape;80;p1"/>
          <p:cNvSpPr txBox="1"/>
          <p:nvPr>
            <p:ph idx="18" type="body"/>
          </p:nvPr>
        </p:nvSpPr>
        <p:spPr>
          <a:xfrm>
            <a:off x="31753450" y="30996826"/>
            <a:ext cx="11456100" cy="16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-325120" lvl="0" marL="4572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Cambria"/>
              <a:buChar char="•"/>
            </a:pPr>
            <a:r>
              <a:rPr lang="en-US" sz="1520" u="sng">
                <a:solidFill>
                  <a:srgbClr val="0B57D0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https://towardsdatascience.com/log-normal-distribution-a-simple-explanation-7605864fb67c/</a:t>
            </a:r>
            <a:endParaRPr sz="1520" u="sng">
              <a:solidFill>
                <a:srgbClr val="0B57D0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3251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0"/>
              <a:buFont typeface="Cambria"/>
              <a:buChar char="•"/>
            </a:pPr>
            <a:r>
              <a:rPr lang="en-US" sz="1520" u="sng">
                <a:solidFill>
                  <a:srgbClr val="0B57D0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https://docs.scipy.org/doc/scipy/reference/generated/scipy.interpolate.CubicSpline.html</a:t>
            </a:r>
            <a:endParaRPr sz="1520" u="sng">
              <a:solidFill>
                <a:srgbClr val="0B57D0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3251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0"/>
              <a:buFont typeface="Cambria"/>
              <a:buChar char="•"/>
            </a:pPr>
            <a:r>
              <a:rPr lang="en-US" sz="1520" u="sng">
                <a:solidFill>
                  <a:srgbClr val="0B57D0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https://www.itl.nist.gov/div898/handbook/eda/section3/eda3669.htm</a:t>
            </a:r>
            <a:endParaRPr sz="1520" u="sng">
              <a:solidFill>
                <a:srgbClr val="0B57D0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3251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0"/>
              <a:buFont typeface="Cambria"/>
              <a:buChar char="•"/>
            </a:pPr>
            <a:r>
              <a:rPr lang="en-US" sz="1520" u="sng">
                <a:solidFill>
                  <a:srgbClr val="0B57D0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https://mathworld.wolfram.com/LogNormalDistribution.html</a:t>
            </a:r>
            <a:endParaRPr sz="1520" u="sng">
              <a:solidFill>
                <a:srgbClr val="0B57D0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3251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0"/>
              <a:buFont typeface="Cambria"/>
              <a:buChar char="•"/>
            </a:pPr>
            <a:r>
              <a:rPr lang="en-US" sz="1520" u="sng">
                <a:solidFill>
                  <a:srgbClr val="0B57D0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https://docs.scipy.org/doc/scipy/reference/generated/scipy.optimize.newton.html</a:t>
            </a:r>
            <a:endParaRPr sz="1520" u="sng">
              <a:solidFill>
                <a:srgbClr val="0B57D0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3251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0"/>
              <a:buFont typeface="Cambria"/>
              <a:buChar char="•"/>
            </a:pPr>
            <a:r>
              <a:rPr lang="en-US" sz="1520" u="sng">
                <a:solidFill>
                  <a:srgbClr val="0B57D0"/>
                </a:solidFill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https://www.kaggle.com/competitions/allstate-claims-severity</a:t>
            </a:r>
            <a:endParaRPr sz="1520" u="sng">
              <a:solidFill>
                <a:srgbClr val="0B57D0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740"/>
              <a:buNone/>
            </a:pPr>
            <a:r>
              <a:t/>
            </a:r>
            <a:endParaRPr sz="424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1623375" y="31423650"/>
            <a:ext cx="10092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histogram displays the log-transformed loss data. After applying a logarithmic transformation, we get a bell-shaped normal distribution. This indicates that the d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ata can be modeled using a lognormal distribution. </a:t>
            </a:r>
            <a:endParaRPr sz="4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2352700" y="30120644"/>
            <a:ext cx="9491100" cy="25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graph compares two cubic spline models fitted to group A and B. Each curve represents how premium varies with risk score within its group. The separation between curves suggests that different segments of the population may exhibit different risk-loss relationships, motivating the use of segmented modeling. </a:t>
            </a:r>
            <a:endParaRPr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22277600" y="24844188"/>
            <a:ext cx="90654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graph shows the relationship between risk score and estimated premium using a cubic spline model. Each point represents the average premium with a risk class. The upward trend indicates a positive correlation between risk score and expected losses and therefore higher premiums</a:t>
            </a:r>
            <a:endParaRPr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4" name="Google Shape;84;p1"/>
          <p:cNvSpPr/>
          <p:nvPr>
            <p:ph idx="17" type="body"/>
          </p:nvPr>
        </p:nvSpPr>
        <p:spPr>
          <a:xfrm>
            <a:off x="31927300" y="14788162"/>
            <a:ext cx="11413200" cy="1219200"/>
          </a:xfrm>
          <a:prstGeom prst="round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85" name="Google Shape;85;p1"/>
          <p:cNvSpPr txBox="1"/>
          <p:nvPr>
            <p:ph idx="18" type="body"/>
          </p:nvPr>
        </p:nvSpPr>
        <p:spPr>
          <a:xfrm>
            <a:off x="31905850" y="16144963"/>
            <a:ext cx="11456100" cy="46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We applied multiple numerical methods to estimate expected insurance loss using both parametric and data-driven models. Root-finding, PDFs, and cubic splines all produced similar results, suggesting a stable and reliable estimate. This project highlights how theory and numerical methods are combined in real insurance loss modeling.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77790" lvl="0" marL="45719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dical Poster">
  <a:themeElements>
    <a:clrScheme name="0">
      <a:dk1>
        <a:srgbClr val="000000"/>
      </a:dk1>
      <a:lt1>
        <a:srgbClr val="FFFFFF"/>
      </a:lt1>
      <a:dk2>
        <a:srgbClr val="003865"/>
      </a:dk2>
      <a:lt2>
        <a:srgbClr val="ACCBF9"/>
      </a:lt2>
      <a:accent1>
        <a:srgbClr val="4A66AC"/>
      </a:accent1>
      <a:accent2>
        <a:srgbClr val="629DD1"/>
      </a:accent2>
      <a:accent3>
        <a:srgbClr val="00376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2014-11-20T18:30:47Z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TC040015519991</vt:lpwstr>
  </property>
  <property fmtid="{D5CDD505-2E9C-101B-9397-08002B2CF9AE}" pid="3" name="ContentTypeId">
    <vt:lpwstr>0x010100006C6C5C48487645A196E120AE03B459</vt:lpwstr>
  </property>
</Properties>
</file>